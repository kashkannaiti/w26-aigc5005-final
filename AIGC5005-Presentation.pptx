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4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5453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3200400"/>
            <a:ext cx="8979408" cy="19431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412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Readmission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Prediction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&amp; Deep Learning on Electronic Health Record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AIGC 5005 — Winter 2026  |  Humber Polytechnic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Fadi Kash Kannaiti  •  Ogbeide Iria  •  Oguzhan Tekin  •  Sara Yenigun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Hossein Pourmodheji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github.com/KashKannaiti/W26-AIGC5005-Final  |  Live App: w26-aigc5005-final.streamlit.app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62179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walkthrough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206240" cy="731520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347472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234440"/>
            <a:ext cx="347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160020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diabetes readmissions matter — the $17B challenge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148840"/>
            <a:ext cx="4206240" cy="731520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347472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148840"/>
            <a:ext cx="347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2194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251460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130-hospital dataset, SMOTE, feature engineering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4206240" cy="731520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063240"/>
            <a:ext cx="347472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063240"/>
            <a:ext cx="347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108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342900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peer-reviewed papers and the gaps we fill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977640"/>
            <a:ext cx="4206240" cy="731520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977640"/>
            <a:ext cx="347472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3977640"/>
            <a:ext cx="347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4023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5-Model Pipeline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434340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→ RF → XGBoost → PyTorch MLP → TF/Keras MLP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1234440"/>
            <a:ext cx="4206240" cy="73152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54880" y="1234440"/>
            <a:ext cx="347472" cy="7315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54880" y="1234440"/>
            <a:ext cx="347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6636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66360" y="160020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ROC curves, threshold calibration, SHAP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2148840"/>
            <a:ext cx="4206240" cy="73152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54880" y="2148840"/>
            <a:ext cx="347472" cy="7315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2148840"/>
            <a:ext cx="347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66360" y="2194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Highlights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66360" y="251460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app + project highlights vs. literature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063240"/>
            <a:ext cx="4206240" cy="73152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54880" y="3063240"/>
            <a:ext cx="347472" cy="7315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54880" y="3063240"/>
            <a:ext cx="347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66360" y="3108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66360" y="342900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next steps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62179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hospital readmissions are a critical challenge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011680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143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CONTEXT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1965960" cy="1234440"/>
          </a:xfrm>
          <a:prstGeom prst="rect">
            <a:avLst/>
          </a:prstGeom>
          <a:solidFill>
            <a:srgbClr val="1F4E79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527048"/>
            <a:ext cx="17830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2141982"/>
            <a:ext cx="187452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US cost of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preventable readmissions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1463040"/>
            <a:ext cx="1965960" cy="1234440"/>
          </a:xfrm>
          <a:prstGeom prst="rect">
            <a:avLst/>
          </a:prstGeom>
          <a:solidFill>
            <a:srgbClr val="2E75B6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42032" y="1527048"/>
            <a:ext cx="17830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96312" y="2141982"/>
            <a:ext cx="187452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patients readmitted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30 days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463040"/>
            <a:ext cx="1965960" cy="1234440"/>
          </a:xfrm>
          <a:prstGeom prst="rect">
            <a:avLst/>
          </a:prstGeom>
          <a:solidFill>
            <a:srgbClr val="1565C0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18304" y="1527048"/>
            <a:ext cx="17830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22.7%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72584" y="2141982"/>
            <a:ext cx="187452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readmission rate 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populations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03136" y="1463040"/>
            <a:ext cx="1965960" cy="1234440"/>
          </a:xfrm>
          <a:prstGeom prst="rect">
            <a:avLst/>
          </a:prstGeom>
          <a:solidFill>
            <a:srgbClr val="F9A82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94576" y="1527048"/>
            <a:ext cx="17830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$10–15K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48856" y="2141982"/>
            <a:ext cx="187452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preventable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event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4114800" cy="1143000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2880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Tools Fall Short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182112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LACE index and HOSPITAL score capture only a handful of variables and are applied inconsistently. They cannot detect non-linear, high-order patterns across 50+ features.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2834640"/>
            <a:ext cx="4114800" cy="11430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00600" y="2880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Offers a Better Path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3182112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training on 101,766 EHR encounters spanning 130 US hospitals, ML models identify subtle patterns in medications, diagnoses, and prior utilization that predict readmission risk.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62179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Diabetes 130-US Hospitals Dataset (1999–2008)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3931920" cy="685800"/>
          </a:xfrm>
          <a:prstGeom prst="rect">
            <a:avLst/>
          </a:prstGeom>
          <a:solidFill>
            <a:srgbClr val="DEEAF1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070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101,766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12070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encounters across 130 US hospitals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99339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011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2011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demographics, diagnoses, medications, utilization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798064"/>
            <a:ext cx="3931920" cy="685800"/>
          </a:xfrm>
          <a:prstGeom prst="rect">
            <a:avLst/>
          </a:prstGeom>
          <a:solidFill>
            <a:srgbClr val="DEEAF1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81635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28163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class (readmitted &lt;30 days) — severe 8:1 imbalance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602736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62102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36210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 (stratified, random_state=42)</a:t>
            </a:r>
            <a:endParaRPr lang="en-US" sz="1050" dirty="0"/>
          </a:p>
        </p:txBody>
      </p:sp>
      <p:pic>
        <p:nvPicPr>
          <p:cNvPr id="18" name="Image 0" descr="/tmp/nb_images/img_07_cell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188720"/>
            <a:ext cx="4572000" cy="135971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389120" y="32004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Class distribution — raw dataset (left), before SMOTE (center), after SMOTE (right)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74320" y="4434840"/>
            <a:ext cx="8595360" cy="4754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65760" y="44348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missing cols (weight 97%, payer_code 40%)  →  Label/Ordinal/OHE encoding  →  ICD-9 → 9 disease categories  →  SMOTE (train only)  →  StandardScaler (NN only)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62179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Peer-Reviewed Papers — State of the Art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1554480" cy="2286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" y="123444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Emi-Johnson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Nkrumah (2025)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920240"/>
            <a:ext cx="155448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" y="1993392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SHAP on UCI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AUC=0.667 | No deployment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93392" y="1188720"/>
            <a:ext cx="1554480" cy="2286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57400" y="123444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et al.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(2023)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93392" y="1920240"/>
            <a:ext cx="155448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57400" y="1993392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on 2.8M EHR encounters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AUC=0.79 | No imbalance handling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58184" y="1188720"/>
            <a:ext cx="1554480" cy="2286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22192" y="123444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Gandra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58184" y="1920240"/>
            <a:ext cx="155448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22192" y="1993392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ensemble models (CatBoost best)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AUC=0.70 | No F1 reported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22976" y="1188720"/>
            <a:ext cx="1554480" cy="22860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86984" y="123444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22976" y="1920240"/>
            <a:ext cx="155448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86984" y="1993392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GWO + SMOTE | RF F1=0.83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in literature — no deployment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87768" y="1188720"/>
            <a:ext cx="1554480" cy="22860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51776" y="1234440"/>
            <a:ext cx="14264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Jagadamba et al.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(2023)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87768" y="1920240"/>
            <a:ext cx="155448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51776" y="1993392"/>
            <a:ext cx="1426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EHR-integrated ML (1,080 records)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basis for our deployment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611880"/>
            <a:ext cx="8595360" cy="123444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Our Project Fills: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397764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SMOTE placement (post-split, train only) — 3 of 5 papers ignore imbalance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F1-score as primary metric — most papers report accuracy only on imbalanced data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SHAP explainability (global + patient-level) — only 1 of 5 papers includes SHAP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public deployment — NONE of the 5 reviewed papers produced a deployable tool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PyTorch vs TensorFlow comparison — first cross-framework comparison on UCI dataset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5-Model 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62179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Baseline to Deep Learning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74520" y="2468880"/>
            <a:ext cx="137160" cy="2743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143000"/>
            <a:ext cx="1600200" cy="274320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207008"/>
            <a:ext cx="1417320" cy="24688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20700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92608" y="1481328"/>
            <a:ext cx="1472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" y="2212848"/>
            <a:ext cx="141732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2608" y="2286000"/>
            <a:ext cx="1472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training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coefficients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floor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0" y="2468880"/>
            <a:ext cx="137160" cy="2743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011680" y="1143000"/>
            <a:ext cx="1600200" cy="2743200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103120" y="1207008"/>
            <a:ext cx="1417320" cy="24688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03120" y="120700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75688" y="1481328"/>
            <a:ext cx="1472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103120" y="2212848"/>
            <a:ext cx="141732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075688" y="2286000"/>
            <a:ext cx="1472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n_est=200, depth=20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scaling needed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40680" y="2468880"/>
            <a:ext cx="137160" cy="2743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794760" y="1143000"/>
            <a:ext cx="1600200" cy="2743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886200" y="1207008"/>
            <a:ext cx="1417320" cy="24688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86200" y="120700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F1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858768" y="1481328"/>
            <a:ext cx="1472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86200" y="2212848"/>
            <a:ext cx="141732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58768" y="2286000"/>
            <a:ext cx="1472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scale_pos_weight=7.91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SMOTE needed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AUC-PR optimized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23760" y="2468880"/>
            <a:ext cx="137160" cy="2743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577840" y="1143000"/>
            <a:ext cx="1600200" cy="2743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669280" y="1207008"/>
            <a:ext cx="1417320" cy="24688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669280" y="120700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41848" y="1481328"/>
            <a:ext cx="1472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669280" y="2212848"/>
            <a:ext cx="141732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41848" y="2286000"/>
            <a:ext cx="1472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256→128→64→1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+ Dropout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@0.15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60920" y="1143000"/>
            <a:ext cx="1600200" cy="2743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452360" y="1207008"/>
            <a:ext cx="1417320" cy="24688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452360" y="120700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424928" y="1481328"/>
            <a:ext cx="1472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TF/Keras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452360" y="2212848"/>
            <a:ext cx="141732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424928" y="2286000"/>
            <a:ext cx="1472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977640"/>
            <a:ext cx="8595360" cy="877824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11480" y="4005072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Architecture (both frameworks):  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256 → 128 → 64 → 1  |  BatchNorm + Dropout(0.3/0.2)  |  ReLU → Sigmoid  |  Adam (lr=1e-3, wd=1e-4)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+ EarlyStopping (patience=10)  |  SMOTE-balanced training  |  StandardScaler features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Training Curves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62179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MLP &amp; TensorFlow/Keras MLP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MLP</a:t>
            </a:r>
            <a:endParaRPr lang="en-US" sz="1200" dirty="0"/>
          </a:p>
        </p:txBody>
      </p:sp>
      <p:pic>
        <p:nvPicPr>
          <p:cNvPr id="7" name="Image 0" descr="/tmp/nb_images/img_22_cell1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89888"/>
            <a:ext cx="4114800" cy="12810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10972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 MLP</a:t>
            </a:r>
            <a:endParaRPr lang="en-US" sz="1200" dirty="0"/>
          </a:p>
        </p:txBody>
      </p:sp>
      <p:pic>
        <p:nvPicPr>
          <p:cNvPr id="9" name="Image 1" descr="/tmp/nb_images/img_23_cell1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389888"/>
            <a:ext cx="4114800" cy="1281989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4320" y="2907792"/>
            <a:ext cx="8595360" cy="3291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365760" y="2907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Training Observations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74320" y="3291840"/>
            <a:ext cx="4114800" cy="685800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11480" y="33192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11480" y="3566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stop at ~50 epochs — preventing overfitting on SMOTE-augmented data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74320" y="4096512"/>
            <a:ext cx="4114800" cy="685800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11480" y="41239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Scheduling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11480" y="43708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reduces learning rate when AUC-ROC plateaus, allowing finer convergence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663440" y="3291840"/>
            <a:ext cx="4114800" cy="68580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800600" y="33192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Convergence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800600" y="3566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PyTorch: AUC-ROC 0.6186 | TensorFlow: AUC-ROC 0.6170 — confirming cross-framework reproducibility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663440" y="4096512"/>
            <a:ext cx="4114800" cy="68580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800600" y="41239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Behaviour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800600" y="43708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Loss steadily decreases; gap between train/val loss small — no significant overfitting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Full Model Comparison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62179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on held-out test set (19,899 records, 11.2% positive rate)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8138160" cy="307238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AUC-ROC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AUC-PR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Logistic Regression (Baseline)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0.8680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0.2312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0.0756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0.1140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0.5578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0.1440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Random Forest (Tuned)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0.8759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0.2094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0.0380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0.0644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0.5974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0.1560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4E79"/>
                          </a:solidFill>
                        </a:rPr>
                        <a:t>XGBoost ★ Best Overall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0.6852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0.1826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</a:rPr>
                        <a:t>0.5192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</a:rPr>
                        <a:t>0.2702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</a:rPr>
                        <a:t>0.6603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</a:rPr>
                        <a:t>0.2141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PyTorch MLP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0.8851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0.2797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0.0148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0.0281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0.6186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0.1690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TensorFlow / Keras MLP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0.8757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0.2183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0.0416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0.0699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0.6170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0.1623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4279392"/>
            <a:ext cx="8595360" cy="64008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11480" y="429768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</a:t>
            </a: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low F1 at default threshold=0.50 reflects imbalanced data, NOT model failure. 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MLP at threshold=0.15 achieves F1=0.2406, Recall=0.5577 — highest recall of all 5 models.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&amp; Precision-Recall Curves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62179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models — discriminative ability comparison</a:t>
            </a:r>
            <a:endParaRPr lang="en-US" sz="1300" dirty="0"/>
          </a:p>
        </p:txBody>
      </p:sp>
      <p:pic>
        <p:nvPicPr>
          <p:cNvPr id="6" name="Image 0" descr="/tmp/nb_images/img_25_cell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" y="1143000"/>
            <a:ext cx="7501738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 (left) and PR curves (right). XGBoost leads on both AUC-ROC (0.66) and AUC-PR (0.21). Neural networks outperform LR on AUC-ROC despite low default-threshold F1.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4320" y="4846320"/>
            <a:ext cx="196596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92608" y="4846320"/>
            <a:ext cx="1929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0.6603  XGBoost — Best overall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450592" y="4846320"/>
            <a:ext cx="1965960" cy="1828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322577" y="4777740"/>
            <a:ext cx="20756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AUC-PR 0.2141  XGBoost — 2× random baseline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626864" y="4846320"/>
            <a:ext cx="1965960" cy="1828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45152" y="4846320"/>
            <a:ext cx="1929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0.6186  PyTorch MLP — best deep learning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803136" y="4846320"/>
            <a:ext cx="1965960" cy="182880"/>
          </a:xfrm>
          <a:prstGeom prst="rect">
            <a:avLst/>
          </a:prstGeom>
          <a:solidFill>
            <a:srgbClr val="5B6677"/>
          </a:solidFill>
          <a:ln w="12700">
            <a:solidFill>
              <a:srgbClr val="5B66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21424" y="4846320"/>
            <a:ext cx="1929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≈ 0.112  Random PR baseline (11.2% pos rate)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Sensitivity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62179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MLP — finding the clinical operating point</a:t>
            </a:r>
            <a:endParaRPr lang="en-US" sz="1300" dirty="0"/>
          </a:p>
        </p:txBody>
      </p:sp>
      <p:pic>
        <p:nvPicPr>
          <p:cNvPr id="6" name="Image 0" descr="/tmp/nb_images/img_26_cell1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5029200" cy="2068373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143000"/>
          <a:ext cx="3474720" cy="15544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Threshold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0.50 (default)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0.2797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0.0148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0.0281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0.25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0.2001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0.2010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</a:rPr>
                        <a:t>0.2005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</a:rPr>
                        <a:t>0.15 ★ Optimal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</a:rPr>
                        <a:t>0.1534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</a:rPr>
                        <a:t>0.5577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</a:rPr>
                        <a:t>0.2406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394960" y="2788920"/>
            <a:ext cx="3474720" cy="9601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532120" y="2834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37× Improvement in Recall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532120" y="314553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0.5 → Recall 0.015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0.15 → Recall 0.558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56% of true readmissions vs. just 1.5%</a:t>
            </a:r>
            <a:endParaRPr lang="en-US" sz="1000" dirty="0"/>
          </a:p>
        </p:txBody>
      </p:sp>
      <p:sp>
        <p:nvSpPr>
          <p:cNvPr id="7" name="Shape 7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11480" y="388620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Interpretation: 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hospital screening, missing a true readmission (False Negative) is more costly than a false alarm (False Positive). Threshold=0.15 maximises Recall — catching 56% of at-risk patients — while maintaining F1=0.241. The Streamlit app can allow clinicians to select </a:t>
            </a: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High-Recall mode vs. High-Precision mode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based on ward capacity.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Confusion Matrices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62179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MLP vs. TensorFlow/Keras MLP — default threshold 0.50</a:t>
            </a:r>
            <a:endParaRPr lang="en-US" sz="1300" dirty="0"/>
          </a:p>
        </p:txBody>
      </p:sp>
      <p:pic>
        <p:nvPicPr>
          <p:cNvPr id="6" name="Image 0" descr="/tmp/nb_images/img_24_cell1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088" y="1143000"/>
            <a:ext cx="6827825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default threshold=0.50, both models classify most patients as Low Risk (high TN), missing most readmissions. Threshold calibration to 0.15 dramatically increases True Positives.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4320" y="4572000"/>
            <a:ext cx="4114800" cy="347472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4572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MLP  |  Precision=0.2797  •  AUC-ROC=0.6186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4572000"/>
            <a:ext cx="4114800" cy="347472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46320" y="4572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TF/Keras MLP  |  Precision=0.2183  •  AUC-ROC=0.6170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62179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feature importance + patient-level interpretation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SHAP Predictors (Random Forest, 500 test patients)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4389120" cy="621792"/>
          </a:xfrm>
          <a:prstGeom prst="rect">
            <a:avLst/>
          </a:prstGeom>
          <a:solidFill>
            <a:srgbClr val="DEEAF1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444752"/>
            <a:ext cx="365760" cy="6217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444752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4721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number_inpatient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13232" y="17190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hospitalizations — strongest predictor; repeat admissions signal poor disease control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139696"/>
            <a:ext cx="4389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139696"/>
            <a:ext cx="365760" cy="6217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139696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" y="21671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num_medications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3232" y="241401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medication burden = complex, unstable diabetes management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4389120" cy="621792"/>
          </a:xfrm>
          <a:prstGeom prst="rect">
            <a:avLst/>
          </a:prstGeom>
          <a:solidFill>
            <a:srgbClr val="DEEAF1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834640"/>
            <a:ext cx="365760" cy="6217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2834640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" y="28620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time_in_hospital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3232" y="3108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stays suggest more severe episodes and higher discharge-day risk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529584"/>
            <a:ext cx="4389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529584"/>
            <a:ext cx="365760" cy="6217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3529584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" y="35570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number_diagnoses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3232" y="38039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comorbidities compound readmission risk significantly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224528"/>
            <a:ext cx="4389120" cy="621792"/>
          </a:xfrm>
          <a:prstGeom prst="rect">
            <a:avLst/>
          </a:prstGeom>
          <a:solidFill>
            <a:srgbClr val="DEEAF1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4224528"/>
            <a:ext cx="365760" cy="62179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4224528"/>
            <a:ext cx="365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" y="42519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number_emergency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13232" y="44988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emergency visits reflect disease instability and care-access gaps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1115568"/>
            <a:ext cx="4023360" cy="2651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83480" y="11704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of SHAP Analysis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983480" y="1627632"/>
            <a:ext cx="54864" cy="5029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20640" y="16276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Beeswarm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120640" y="18470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test patients. Shows direction &amp; magnitude of each feature's impact on readmission probability.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983480" y="2313432"/>
            <a:ext cx="54864" cy="5029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120640" y="23134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Bar Plot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120640" y="25328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SHAP values. Simple ranking: which features matter most on average.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83480" y="2999232"/>
            <a:ext cx="54864" cy="5029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120640" y="29992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Waterfall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120640" y="32186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prediction for highest-risk patient. Explains EXACTLY why the model flagged them — bedside-ready.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46320" y="3840480"/>
            <a:ext cx="4023360" cy="100584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983480" y="38770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Cross-Study Replication ✓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83480" y="4133088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SHAP results independently confirm Emi-Johnson &amp; Nkrumah (2025): number_inpatient, num_medications, and time_in_hospital are the top 3 predictors — identical ranking across two independent analyses.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 — Streamlit Web App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62179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 deployed as a publicly accessible clinical decision support tool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8595360" cy="4572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https://w26-aigc5005-final-ep8i66n6nez3543zo2iert.streamlit.app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7830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" y="1892808"/>
            <a:ext cx="411480" cy="4114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18745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2286000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Moderate / High risk level based on XGBoost probability output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72968" y="17830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82696" y="1892808"/>
            <a:ext cx="411480" cy="4114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82696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67328" y="18745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Results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82696" y="2286000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prediction in &lt;1 second. No batch processing — real-time at discharge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71616" y="17830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81344" y="1892808"/>
            <a:ext cx="411480" cy="411480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81344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65976" y="18745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81344" y="2286000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Auto-recommends: 'Schedule follow-up within 7 days' or 'Standard discharge protocol'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136392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84048" y="3246120"/>
            <a:ext cx="411480" cy="41148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" y="322783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Gauge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" y="3639312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gauge showing readmission probability so clinicians can assess confidence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72968" y="3136392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82696" y="3246120"/>
            <a:ext cx="411480" cy="41148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82696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767328" y="322783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82696" y="3639312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contributing risk factors displayed for EACH patient prediction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71616" y="3136392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81344" y="324612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181344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665976" y="322783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81344" y="3639312"/>
            <a:ext cx="2542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smartphone. No installation required — open in any browser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project in the reviewed literature to produce a publicly accessible, mobile-responsive clinical decision support tool. GitHub: github.com/KashKannaiti/W26-AIGC5005-Final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Highlights vs. Published Literature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62179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our results advance and validate the state of the art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160520" cy="2011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17043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38988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Findings Replicated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62763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Emi-Johnson &amp; Nkrumah (2025)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792224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studies independently confirm: number_inpatient, num_medications, and time_in_hospital are the top 3 predictors — strengthening clinical confidence.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404872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404872"/>
            <a:ext cx="4160520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" y="240487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62432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AUC-ROC Matched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86207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Emi-Johnson, Gandra, Liu et al.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3026664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XGBoost AUC=0.6603 aligns with published 0.66–0.70 range, confirming our pipeline is methodologically sound and reproducible.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639312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9A82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3639312"/>
            <a:ext cx="4160520" cy="2011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7472" y="363931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CONTRIBUTION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385876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Cross-Framework DL Comparison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09651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beyond all 5 reviewed papers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261104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reviewed paper compared PyTorch and TF MLPs on the same UCI data. Both converge to AUC≈0.618 — confirming framework reproducibility.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1170432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1170432"/>
            <a:ext cx="4160520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36592" y="117043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CLOSED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54880" y="138988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Deployed Tool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162763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all 5 reviewed papers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1792224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5 papers deployed a tool. Our Streamlit app provides bedside risk classification with SHAP explanations on any smartphone.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2404872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ACC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2404872"/>
            <a:ext cx="4160520" cy="20116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36592" y="240487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54880" y="262432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Placement Confirmed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2862072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Liu et al. (2024)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0" y="3026664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 showed SMOTE → F1=0.83 (with GWO). Our F1=0.270 reflects simpler pipeline — confirms SMOTE is essential; GWO adds further value.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62179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project goes next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17043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384048" cy="38404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26187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Datasets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664208"/>
            <a:ext cx="252374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data spans 1999–2008 — predates GLP-1 agonists, SGLT-2 inhibitors, and modern protocols. Canadian provincial EHR data would improve generalizability.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63824" y="117043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73552" y="1280160"/>
            <a:ext cx="384048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73552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30752" y="126187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Determinants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73552" y="1664208"/>
            <a:ext cx="252374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stability, income, and food security are strong readmission predictors absent from the current dataset. SDOH variables would improve equity and performance.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71616" y="117043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81344" y="1280160"/>
            <a:ext cx="384048" cy="384048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81344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38544" y="126187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Deep Learning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81344" y="1664208"/>
            <a:ext cx="252374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LSTM/Transformer models capture temporal patterns across multiple admissions. Hai et al. achieved AUC=0.79 with LSTMs — our next architectural target.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295351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063240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304495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NLP Integration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447288"/>
            <a:ext cx="252374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extract readmission risk signals from physician notes and nursing observations — rich unstructured data not in structured EHR fields.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63824" y="295351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73552" y="3063240"/>
            <a:ext cx="384048" cy="38404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73552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730752" y="304495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Pipeline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73552" y="3447288"/>
            <a:ext cx="252374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retraining on rolling EHR data to adapt to seasonal patterns and changing clinical protocols — keeping the model current.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71616" y="295351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81344" y="3063240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81344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38544" y="304495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API Integration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81344" y="3447288"/>
            <a:ext cx="252374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risk scoring at discharge via hospital EHR API — eliminating manual data entry and enabling real-time intervention workflows.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Within 3–5 years, AI-assisted discharge risk tools will reduce preventable 30-day readmissions by 15–25% in major Canadian hospitals.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0058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4572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62179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AI development cycle — from raw CSV to live clinical tool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965960" cy="2103120"/>
          </a:xfrm>
          <a:prstGeom prst="rect">
            <a:avLst/>
          </a:prstGeom>
          <a:solidFill>
            <a:srgbClr val="1F4E79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" y="21031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Built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Compared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2596896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→ RF → XGBoost → PyTorch → TF/Keras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1188720"/>
            <a:ext cx="1965960" cy="2103120"/>
          </a:xfrm>
          <a:prstGeom prst="rect">
            <a:avLst/>
          </a:prstGeom>
          <a:solidFill>
            <a:srgbClr val="2E75B6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96312" y="12344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496312" y="21031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AUC-ROC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(XGBoost)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96312" y="2596896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published literature 0.66–0.70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26864" y="1188720"/>
            <a:ext cx="1965960" cy="2103120"/>
          </a:xfrm>
          <a:prstGeom prst="rect">
            <a:avLst/>
          </a:prstGeom>
          <a:solidFill>
            <a:srgbClr val="2E7D32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72584" y="12344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37×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672584" y="21031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Improvement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Threshold=0.15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72584" y="2596896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MLP: 0.015 → 0.558 recall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03136" y="1188720"/>
            <a:ext cx="1965960" cy="2103120"/>
          </a:xfrm>
          <a:prstGeom prst="rect">
            <a:avLst/>
          </a:prstGeom>
          <a:solidFill>
            <a:srgbClr val="F9A825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48856" y="12344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848856" y="21031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Tool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Literature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48856" y="2596896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app — none of 5 papers achieved this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429000"/>
            <a:ext cx="8595360" cy="1417320"/>
          </a:xfrm>
          <a:prstGeom prst="rect">
            <a:avLst/>
          </a:prstGeom>
          <a:solidFill>
            <a:srgbClr val="DEEAF1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34930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3767328"/>
            <a:ext cx="8321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SMOTE post-split (training only) is essential — 3 of 5 reviewed papers omit this and report inflated metrics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F1-score &gt; accuracy for imbalanced clinical datasets — a naïve classifier would score 88.8% accuracy while identifying zero readmissions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Threshold calibration unlocks neural network clinical utility — 37× recall improvement vs. default 0.50 threshold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XGBoost remains the deployment champion (F1=0.270, AUC=0.660), but PyTorch MLP matches its recall at threshold=0.15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Reflections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737360"/>
          </a:xfrm>
          <a:prstGeom prst="rect">
            <a:avLst/>
          </a:prstGeom>
          <a:solidFill>
            <a:srgbClr val="2E75B6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457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"Communication is as important as computation — turning complex models into tools clinicians can trust and actually use at the bedside."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2286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Fadi Kash Kannaiti  |  Project Lead &amp; Report Writer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9160" y="868680"/>
            <a:ext cx="4114800" cy="1737360"/>
          </a:xfrm>
          <a:prstGeom prst="rect">
            <a:avLst/>
          </a:prstGeom>
          <a:solidFill>
            <a:srgbClr val="2E75B6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4114800" cy="457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9601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"Building the pipeline from raw CSV to a live Streamlit app showed me how important clean engineering is to turning data into impact."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2286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Ogbeide Iria  |  Data Engineer &amp; Results Lead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4114800" cy="1737360"/>
          </a:xfrm>
          <a:prstGeom prst="rect">
            <a:avLst/>
          </a:prstGeom>
          <a:solidFill>
            <a:srgbClr val="2E75B6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4114800" cy="457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9260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"Designing our methodology to address gaps in published papers reinforced that rigorous evaluation and honest reporting are non-negotiable in healthcare AI."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251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Oguzhan Tekin  |  ML Researcher &amp; Analyst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2834640"/>
            <a:ext cx="4114800" cy="1737360"/>
          </a:xfrm>
          <a:prstGeom prst="rect">
            <a:avLst/>
          </a:prstGeom>
          <a:solidFill>
            <a:srgbClr val="2E75B6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834640"/>
            <a:ext cx="4114800" cy="457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29260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"Presenting the live demo reminded me why clear communication and meticulous documentation matter just as much as the code itself."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4251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Yenigun  |  QA, Documentation &amp; Presenter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Hossein Pourmodheji  |  AIGC 5005, Humber Polytechnic — Winter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3657600"/>
            <a:ext cx="8979408" cy="14859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2560320" cy="685800"/>
          </a:xfrm>
          <a:prstGeom prst="rect">
            <a:avLst/>
          </a:prstGeom>
          <a:solidFill>
            <a:srgbClr val="2E75B6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4871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w26-aigc5005-final-ep8i66n6nez3543zo2iert.streamlit.app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91840" y="2468880"/>
            <a:ext cx="2560320" cy="685800"/>
          </a:xfrm>
          <a:prstGeom prst="rect">
            <a:avLst/>
          </a:prstGeom>
          <a:solidFill>
            <a:srgbClr val="2E75B6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24871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2743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github.com/KashKannaiti/W26-AIGC5005-Final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26480" y="2468880"/>
            <a:ext cx="2560320" cy="685800"/>
          </a:xfrm>
          <a:prstGeom prst="rect">
            <a:avLst/>
          </a:prstGeom>
          <a:solidFill>
            <a:srgbClr val="2E75B6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72200" y="24871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72200" y="2743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kaggle.com/datasets/brandao/diabetes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AIGC 5005 — Humber Polytechnic — Winter 2026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2519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Fadi Kash Kannaiti  •  Ogbeide Iria  •  Oguzhan Tekin  •  Sara Yenigun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5262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Hossein Pourmodheji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2239</Words>
  <Application>Microsoft Macintosh PowerPoint</Application>
  <PresentationFormat>On-screen Show (16:9)</PresentationFormat>
  <Paragraphs>369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Readmission Risk Prediction</dc:title>
  <dc:subject>PptxGenJS Presentation</dc:subject>
  <dc:creator>AIGC 5005 Team</dc:creator>
  <cp:lastModifiedBy>Platinum Pavilion</cp:lastModifiedBy>
  <cp:revision>2</cp:revision>
  <dcterms:created xsi:type="dcterms:W3CDTF">2026-04-12T05:22:38Z</dcterms:created>
  <dcterms:modified xsi:type="dcterms:W3CDTF">2026-04-12T05:30:36Z</dcterms:modified>
</cp:coreProperties>
</file>